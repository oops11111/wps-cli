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重点解释毛利率下降原因。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solidFill>
                  <a:srgbClr val="000000"/>
                </a:solidFill>
                <a:latin typeface="Microsoft YaHei"/>
                <a:ea typeface="Microsoft YaHei"/>
              </a:rPr>
              <a:t>2026 Q3 经营回顾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00600"/>
          </a:xfrm>
        </p:spPr>
        <p:txBody>
          <a:bodyPr/>
          <a:lstStyle/>
          <a:p>
            <a:pPr>
              <a:buNone/>
            </a:pPr>
            <a:r>
              <a:rPr sz="1950">
                <a:solidFill>
                  <a:srgbClr val="000000"/>
                </a:solidFill>
                <a:latin typeface="Microsoft YaHei"/>
                <a:ea typeface="Microsoft YaHei"/>
              </a:rPr>
              <a:t>财务部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700" b="1">
                <a:solidFill>
                  <a:srgbClr val="C55A11"/>
                </a:solidFill>
                <a:latin typeface="Microsoft YaHei"/>
                <a:ea typeface="Microsoft YaHei"/>
              </a:rPr>
              <a:t>核心指标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600200"/>
          <a:ext cx="8229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b="1" sz="180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80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</a:rPr>
                        <a:t>Q2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80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</a:rPr>
                        <a:t>Q3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80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</a:rPr>
                        <a:t>环比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</a:rPr>
                        <a:t>收入（万元）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</a:rPr>
                        <a:t>4,010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</a:rPr>
                        <a:t>4,820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</a:rPr>
                        <a:t>+20.2%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</a:rPr>
                        <a:t>毛利率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</a:rPr>
                        <a:t>39.3%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</a:rPr>
                        <a:t>38.2%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</a:rPr>
                        <a:t>-1.1pt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</a:rPr>
                        <a:t>新客户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</a:rPr>
                        <a:t>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</a:rPr>
                        <a:t>158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  <a:latin typeface="Microsoft YaHei"/>
                          <a:ea typeface="Microsoft YaHei"/>
                        </a:rPr>
                        <a:t>+25.4%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 spd="med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8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AsOne/>
      </p:bldGraphic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700" b="1">
                <a:solidFill>
                  <a:srgbClr val="C55A11"/>
                </a:solidFill>
                <a:latin typeface="Microsoft YaHei"/>
                <a:ea typeface="Microsoft YaHei"/>
              </a:rPr>
              <a:t>下季度重点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00600"/>
          </a:xfrm>
        </p:spPr>
        <p:txBody>
          <a:bodyPr/>
          <a:lstStyle/>
          <a:p>
            <a:pPr marL="285750" indent="-285750">
              <a:buChar char="•"/>
            </a:pPr>
            <a:r>
              <a:rPr sz="1200">
                <a:solidFill>
                  <a:srgbClr val="000000"/>
                </a:solidFill>
                <a:latin typeface="Microsoft YaHei"/>
                <a:ea typeface="Microsoft YaHei"/>
              </a:rPr>
              <a:t>海外市场试点</a:t>
            </a:r>
          </a:p>
          <a:p>
            <a:pPr marL="285750" indent="-285750">
              <a:buChar char="•"/>
            </a:pPr>
            <a:r>
              <a:rPr sz="1200">
                <a:solidFill>
                  <a:srgbClr val="000000"/>
                </a:solidFill>
                <a:latin typeface="Microsoft YaHei"/>
                <a:ea typeface="Microsoft YaHei"/>
              </a:rPr>
              <a:t>成本优化专项</a:t>
            </a:r>
          </a:p>
          <a:p>
            <a:pPr marL="285750" indent="-285750">
              <a:buChar char="•"/>
            </a:pPr>
            <a:r>
              <a:rPr sz="1200">
                <a:solidFill>
                  <a:srgbClr val="000000"/>
                </a:solidFill>
                <a:latin typeface="Microsoft YaHei"/>
                <a:ea typeface="Microsoft YaHei"/>
              </a:rPr>
              <a:t>渠道数字化</a:t>
            </a:r>
          </a:p>
        </p:txBody>
      </p:sp>
    </p:spTree>
  </p:cSld>
  <p:clrMapOvr>
    <a:masterClrMapping/>
  </p:clrMapOvr>
  <p:transition spd="med">
    <p:spli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